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3" r:id="rId9"/>
    <p:sldId id="264" r:id="rId10"/>
    <p:sldId id="278" r:id="rId11"/>
    <p:sldId id="280" r:id="rId12"/>
    <p:sldId id="281" r:id="rId13"/>
    <p:sldId id="279" r:id="rId14"/>
    <p:sldId id="271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60237-AF65-8489-C79B-8BE77A4F4E1A}" v="54" dt="2026-08-12T08:28:28.917"/>
    <p1510:client id="{49BBE7BC-40E1-AE78-E531-B9E963D385B7}" v="42" dt="2026-08-12T09:20:58.927"/>
    <p1510:client id="{71567A90-41FA-7644-92A7-703418C80795}" v="146" dt="2026-08-11T10:31:20.335"/>
    <p1510:client id="{C53B3ABF-CE71-C688-481F-9F3938DBA950}" v="1021" dt="2026-08-12T08:06:41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7BD2B-B22A-4C1E-8D98-10EC74B37689}" type="datetimeFigureOut"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43378-5C51-4B48-A5E9-30EAB68D34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2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investigates when Foundation Forecasting Models are actually needed </a:t>
            </a:r>
          </a:p>
          <a:p>
            <a:r>
              <a:rPr lang="en-US"/>
              <a:t>rather than focusing on a single dataset benchmarks multiple forecasting model families across several domains and dataset sizes to identify when Foundational Models are most effective.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research questions.</a:t>
            </a:r>
          </a:p>
          <a:p>
            <a:r>
              <a:rPr lang="en-US"/>
              <a:t>whether Foundation Models outperform traditional methods on small datasets.</a:t>
            </a:r>
          </a:p>
          <a:p>
            <a:r>
              <a:rPr lang="en-US"/>
              <a:t>whether there is a dataset scale at which traditional methods catch up or lose their advantage.</a:t>
            </a:r>
          </a:p>
          <a:p>
            <a:r>
              <a:rPr lang="en-US"/>
              <a:t>how forecasting horizon affects performance.</a:t>
            </a:r>
          </a:p>
          <a:p>
            <a:r>
              <a:rPr lang="en-US"/>
              <a:t>which model family provides the best balance between accuracy and practicality.</a:t>
            </a:r>
          </a:p>
          <a:p>
            <a:r>
              <a:rPr lang="en-US"/>
              <a:t>whether Foundation Models struggle on niche or domain-specific datasets.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answer these questions, the benchmark spans multiple domains including agriculture, energy, retail, traffic, and forecasting competition datasets.</a:t>
            </a:r>
          </a:p>
          <a:p>
            <a:r>
              <a:rPr lang="en-US"/>
              <a:t>Each dataset was split into small and medium-scale variants.</a:t>
            </a:r>
          </a:p>
          <a:p>
            <a:r>
              <a:rPr lang="en-US"/>
              <a:t>Different forecast horizons were evaluated depending on dataset characteristics.</a:t>
            </a:r>
          </a:p>
          <a:p>
            <a:r>
              <a:rPr lang="en-US"/>
              <a:t>Where available, external covariates were incorporated to assess whether additional context changes model performance.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forecasting families were evaluated.</a:t>
            </a:r>
          </a:p>
          <a:p>
            <a:r>
              <a:rPr lang="en-US"/>
              <a:t>Foundation Models included Chronos and Tiny Time Mixer.</a:t>
            </a:r>
          </a:p>
          <a:p>
            <a:r>
              <a:rPr lang="en-US"/>
              <a:t>Classical Models included ARIMA and SARIMA.</a:t>
            </a:r>
          </a:p>
          <a:p>
            <a:r>
              <a:rPr lang="en-US" dirty="0"/>
              <a:t>Machine Learning Models consisted of </a:t>
            </a:r>
            <a:r>
              <a:rPr lang="en-US" dirty="0" err="1"/>
              <a:t>LightGBM</a:t>
            </a:r>
            <a:r>
              <a:rPr lang="en-US" dirty="0"/>
              <a:t> and </a:t>
            </a:r>
            <a:r>
              <a:rPr lang="en-US" dirty="0" err="1"/>
              <a:t>XGBoost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Deep Learning Models included LSTM and N-</a:t>
            </a:r>
            <a:r>
              <a:rPr lang="en-US" dirty="0" err="1"/>
              <a:t>HiTS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Models were evaluated using several metrics.</a:t>
            </a:r>
          </a:p>
          <a:p>
            <a:r>
              <a:rPr lang="en-US"/>
              <a:t>Accuracy was measured using SMAPE, RMSE, and MAE.</a:t>
            </a:r>
          </a:p>
          <a:p>
            <a:r>
              <a:rPr lang="en-US"/>
              <a:t>Runtime captured forecasting efficiency.</a:t>
            </a:r>
          </a:p>
          <a:p>
            <a:r>
              <a:rPr lang="en-US"/>
              <a:t>Resource and implementation costs were also considered.</a:t>
            </a:r>
          </a:p>
          <a:p>
            <a:r>
              <a:rPr lang="en-US"/>
              <a:t>Since forecasting systems are deployed in production environments, practical considerations such as computational cost and ease of implementation are just as important as pure predictive accuracy.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beginning the study, several assumptions were made.</a:t>
            </a:r>
          </a:p>
          <a:p>
            <a:r>
              <a:rPr lang="en-US"/>
              <a:t>The first assumption was that Foundation Models would be most useful on smaller datasets because they benefit from pretraining.</a:t>
            </a:r>
          </a:p>
          <a:p>
            <a:r>
              <a:rPr lang="en-US"/>
              <a:t>Another assumption was that domain-specific datasets might reduce the effectiveness of pretrained representations.</a:t>
            </a:r>
          </a:p>
          <a:p>
            <a:r>
              <a:rPr lang="en-US"/>
              <a:t>I also assumed that forecast horizon would strongly influence which model family performs best.</a:t>
            </a:r>
          </a:p>
          <a:p>
            <a:r>
              <a:rPr lang="en-US"/>
              <a:t>The benchmark results were then used to validate or challenge these assumptions.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CFF9-07E8-0AE9-A308-12C7BB89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857F5-AE32-DEC7-0B29-58A5FA39F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E2C15-BB83-5213-C114-21B79B1E1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Raw datasets were first standardized into a consistent format.</a:t>
            </a:r>
          </a:p>
          <a:p>
            <a:r>
              <a:rPr lang="en-US"/>
              <a:t>Data cleaning was then performed.</a:t>
            </a:r>
          </a:p>
          <a:p>
            <a:r>
              <a:rPr lang="en-US"/>
              <a:t>Time-based train-test splits were created.</a:t>
            </a:r>
          </a:p>
          <a:p>
            <a:r>
              <a:rPr lang="en-US"/>
              <a:t>Forecasts were generated by each model family.</a:t>
            </a:r>
          </a:p>
          <a:p>
            <a:r>
              <a:rPr lang="en-US"/>
              <a:t>evaluated using common benchmark metrics.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3616B-CEC7-630B-A4F3-98EB069E2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39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phase of the project focused on data preparation.</a:t>
            </a:r>
          </a:p>
          <a:p>
            <a:r>
              <a:rPr lang="en-US"/>
              <a:t>Datasets were collected and validated.</a:t>
            </a:r>
          </a:p>
          <a:p>
            <a:r>
              <a:rPr lang="en-US"/>
              <a:t>Exploratory analysis was performed to understand dataset characteristics.</a:t>
            </a:r>
          </a:p>
          <a:p>
            <a:r>
              <a:rPr lang="en-US"/>
              <a:t>Common preprocessing procedures were developed.</a:t>
            </a:r>
          </a:p>
          <a:p>
            <a:r>
              <a:rPr lang="en-US"/>
              <a:t>Dataset variants and forecast horizons were defined before model experimentation began.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second phase focused on experimentation.</a:t>
            </a:r>
          </a:p>
          <a:p>
            <a:r>
              <a:rPr lang="en-US"/>
              <a:t>Every model family was trained and evaluated using the same benchmark setup.</a:t>
            </a:r>
          </a:p>
          <a:p>
            <a:r>
              <a:rPr lang="en-US"/>
              <a:t>Accuracy, runtime, and resource metrics were collected and consolidated into a master benchmark table.</a:t>
            </a:r>
          </a:p>
          <a:p>
            <a:r>
              <a:rPr lang="en-US"/>
              <a:t>This created a unified environment for comparing fundamentally different forecasting approaches.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3E91-DDD2-6C9D-BC09-B9983290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E0480-40C3-B021-072C-FE7180901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314CF-6CB1-8BC8-AF09-B8229F65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Several challenges were encountered throughout the project.</a:t>
            </a:r>
          </a:p>
          <a:p>
            <a:r>
              <a:rPr lang="en-US"/>
              <a:t>The first was dataset standardization because datasets differed significantly in structure, frequency, and scale.</a:t>
            </a:r>
          </a:p>
          <a:p>
            <a:r>
              <a:rPr lang="en-US"/>
              <a:t>Computational limitations also became important, particularly for Foundation Models such as Chronos, which required significantly longer runtimes.</a:t>
            </a:r>
          </a:p>
          <a:p>
            <a:r>
              <a:rPr lang="en-US"/>
              <a:t>Dependency management created additional challenges due to conflicting package requirements.</a:t>
            </a:r>
          </a:p>
          <a:p>
            <a:r>
              <a:rPr lang="en-US"/>
              <a:t>Finally, covariate availability varied considerably between datasets, making fair comparisons more difficult.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13995-8AD0-0B96-CBC0-1903751D2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17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991A-A46D-7DA8-9FC2-1822A83EC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DEF21-31AB-D317-F5CD-2ABB16650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151E3-771A-8943-878C-6E1A1DC07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Looking at overall rankings, Classical Models remained extremely competitive.</a:t>
            </a:r>
          </a:p>
          <a:p>
            <a:r>
              <a:rPr lang="en-US"/>
              <a:t>Foundation Models ranked close to the top while maintaining strong performance across many domains.</a:t>
            </a:r>
          </a:p>
          <a:p>
            <a:r>
              <a:rPr lang="en-US"/>
              <a:t>Machine Learning generally trailed behind Foundation and Classical approaches.</a:t>
            </a:r>
          </a:p>
          <a:p>
            <a:r>
              <a:rPr lang="en-US"/>
              <a:t>Deep Learning exhibited the weakest overall benchmark performance.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91B18-45C3-6198-4D7E-E77C40132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59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974-64FE-01F3-95D8-902FA2E9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1CCA9-AB77-0553-2273-709EDF0A8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EDA15-3BFA-E847-D9E8-A73B9AC20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graph directly addresses the research question.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The metric shown is Foundation Advantage, calculated as Classical SMAPE minus Foundation SMAPE.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Values above zero indicate a Foundation Model advantage.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Values below zero indicate a Classical Model advantage.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Agriculture datasets favored Classical methods.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The largest retail datasets consistently favored Foundation Models.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M4 Quarterly and M4 Yearly also showed substantial Foundation Model advantages.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This suggests that Foundation Models become increasingly effective on large-scale and complex forecasting tasks.</a:t>
            </a:r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FC183-5BD2-1F5F-50B1-454A20F7E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52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A641-B7B6-61B6-2E2F-7F76FB3C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3AB2A-E698-32EE-C5C1-615CC4CF1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51D7A-E091-2687-D094-8E8BB88EB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Models achieved the lowest error on the majority of benchmark datasets.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They performed particularly well on Traffic, M4 Quarterly, M4 Yearly, and Favorita Retail datasets.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Classical models remained strongest on Agriculture datasets and some shorter-frequency forecasting tasks.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/>
              <a:t>The most important conclusion is that no model family dominated every benchmark.</a:t>
            </a:r>
            <a:endParaRPr lang="en-US" dirty="0">
              <a:solidFill>
                <a:srgbClr val="444444"/>
              </a:solidFill>
            </a:endParaRPr>
          </a:p>
          <a:p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Implying that foundational models aren't an end all solution to all dataset problems</a:t>
            </a:r>
          </a:p>
          <a:p>
            <a:endParaRPr lang="en-US" dirty="0">
              <a:solidFill>
                <a:srgbClr val="444444"/>
              </a:solidFill>
            </a:endParaRPr>
          </a:p>
          <a:p>
            <a:endParaRPr lang="en-US" dirty="0">
              <a:solidFill>
                <a:srgbClr val="444444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CB530-96EC-CB2C-0959-5D5AE4D8EF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87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EA6D-2703-2D69-A312-8F19D1C3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43285-FD24-A199-0F2D-CF0408F90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FA5F9-0CF4-5818-E056-EFB8A1232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the benchmark findings, a practical decision framework was developed.</a:t>
            </a:r>
          </a:p>
          <a:p>
            <a:r>
              <a:rPr lang="en-US"/>
              <a:t>For datasets containing fewer than 500 series and fewer than 50,000 observations, Classical methods are generally preferable.</a:t>
            </a:r>
          </a:p>
          <a:p>
            <a:r>
              <a:rPr lang="en-US"/>
              <a:t>As scale increases, Foundation Models become increasingly attractive.</a:t>
            </a:r>
          </a:p>
          <a:p>
            <a:r>
              <a:rPr lang="en-US"/>
              <a:t>Datasets containing several thousand series and hundreds of thousands of observations consistently favored Foundation approaches in this benchmark.</a:t>
            </a:r>
          </a:p>
          <a:p>
            <a:r>
              <a:rPr lang="en-US"/>
              <a:t>This framework provides guidance for selecting forecasting architectures based on dataset characteristics.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A981B-7330-F712-DF6B-DC751034F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53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do we really need Foundation Forecasting Models?</a:t>
            </a:r>
          </a:p>
          <a:p>
            <a:r>
              <a:rPr lang="en-US"/>
              <a:t>The answer is that Foundation Models are not universal replacements for Classical forecasting methods.</a:t>
            </a:r>
          </a:p>
          <a:p>
            <a:r>
              <a:rPr lang="en-US"/>
              <a:t>Classical models remain extremely competitive for smaller and more structured forecasting problems.</a:t>
            </a:r>
          </a:p>
          <a:p>
            <a:r>
              <a:rPr lang="en-US"/>
              <a:t>However, Foundation Models demonstrated the strongest overall cross-domain generalization and achieved the best performance on most large-scale benchmarks.</a:t>
            </a:r>
          </a:p>
          <a:p>
            <a:r>
              <a:rPr lang="en-US"/>
              <a:t>Deep Learning models provided the weakest cost-to-performance tradeoff within this study.</a:t>
            </a:r>
          </a:p>
          <a:p>
            <a:r>
              <a:rPr lang="en-US"/>
              <a:t>The key takeaway is that Foundation Models become increasingly valuable as forecasting problems grow in scale and complexity.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2926080" cy="29260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We Really Need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Forecasting Models?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the feasibility of foundational forecasting models and analyzing when they're best utilized for the ease of access they provide in their implementation.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guiding questions frame the investigation into foundational vs. traditional forecasting approaches.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882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882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Shape 4"/>
          <p:cNvSpPr/>
          <p:nvPr/>
        </p:nvSpPr>
        <p:spPr>
          <a:xfrm>
            <a:off x="1325880" y="1691640"/>
            <a:ext cx="10332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1691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foundational models outperform traditional models on small datasets?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43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43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1325880" y="2587752"/>
            <a:ext cx="10332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2587752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dataset size do traditional models catch up?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804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80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1325880" y="3483864"/>
            <a:ext cx="10332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3483864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performance vary across forecast horizons?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65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65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1325880" y="4379976"/>
            <a:ext cx="10332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00200" y="4379976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type gives the best value?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726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72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1325880" y="5276088"/>
            <a:ext cx="10332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20304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527608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foundational models less effective on fringe or highly domain-specific datasets?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spans multiple data types, sizes, and forecast horizons to stress-test model behavior.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Types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demand, finance, and other real-world data domains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166360" cy="1965960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5262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5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Small and medium scale variants of each dataset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166360" cy="1965960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Horizon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5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Short, medium, and long range forecasting windows</a:t>
            </a:r>
            <a:endParaRPr lang="en-US" sz="13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80760" y="3931920"/>
            <a:ext cx="5166360" cy="1965960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206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Variables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52628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25000"/>
              </a:lnSpc>
            </a:pPr>
            <a:r>
              <a:rPr lang="en-US" sz="1350">
                <a:solidFill>
                  <a:srgbClr val="1A2233"/>
                </a:solidFill>
                <a:ea typeface="Calibri"/>
                <a:cs typeface="Calibri"/>
              </a:rPr>
              <a:t>Covariates layered in to test added contexts value</a:t>
            </a:r>
            <a:endParaRPr lang="en-US" sz="135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 families are benchmarked head-to-head under a shared evaluation pipeline.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1228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B245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8388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Chronos</a:t>
            </a:r>
            <a:endParaRPr lang="en-US" sz="12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>
                <a:solidFill>
                  <a:srgbClr val="D7E2EA"/>
                </a:solidFill>
                <a:ea typeface="Calibri"/>
                <a:cs typeface="Calibri"/>
              </a:rPr>
              <a:t>TTM</a:t>
            </a:r>
            <a:endParaRPr lang="en-US" sz="1250" dirty="0">
              <a:solidFill>
                <a:srgbClr val="D7E2EA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51860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B245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9020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9020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25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en-US" sz="1250">
                <a:solidFill>
                  <a:srgbClr val="D7E2EA"/>
                </a:solidFill>
                <a:ea typeface="Calibri"/>
                <a:cs typeface="Calibri"/>
              </a:rPr>
              <a:t>SARIMA</a:t>
            </a:r>
            <a:endParaRPr lang="en-US" sz="1250" dirty="0">
              <a:solidFill>
                <a:srgbClr val="D7E2EA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22492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B2450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9652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9652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2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93124" y="182880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1B2450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0284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30284" y="3611880"/>
            <a:ext cx="22402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50" dirty="0">
                <a:solidFill>
                  <a:srgbClr val="D7E2EA"/>
                </a:solidFill>
                <a:latin typeface="Calibri"/>
                <a:ea typeface="Calibri"/>
                <a:cs typeface="Calibri"/>
              </a:rPr>
              <a:t>N-</a:t>
            </a:r>
            <a:r>
              <a:rPr lang="en-US" sz="1250" dirty="0" err="1">
                <a:solidFill>
                  <a:srgbClr val="D7E2EA"/>
                </a:solidFill>
                <a:latin typeface="Calibri"/>
                <a:ea typeface="Calibri"/>
                <a:cs typeface="Calibri"/>
              </a:rPr>
              <a:t>HiTS</a:t>
            </a:r>
            <a:endParaRPr lang="en-US" sz="1250" dirty="0" err="1">
              <a:latin typeface="Calibri"/>
              <a:ea typeface="Calibri"/>
              <a:cs typeface="Calibri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50">
                <a:solidFill>
                  <a:srgbClr val="D7E2EA"/>
                </a:solidFill>
                <a:latin typeface="Calibri"/>
                <a:ea typeface="Calibri"/>
                <a:cs typeface="Calibri"/>
              </a:rPr>
              <a:t>LSTM</a:t>
            </a:r>
            <a:endParaRPr lang="en-US" sz="1250">
              <a:solidFill>
                <a:srgbClr val="D7E2E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92040" y="2057400"/>
            <a:ext cx="320040" cy="0"/>
          </a:xfrm>
          <a:prstGeom prst="line">
            <a:avLst/>
          </a:prstGeom>
          <a:noFill/>
          <a:ln w="12700">
            <a:solidFill>
              <a:srgbClr val="C7D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636776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SMAPE, RMSE, and MAE across all forecast horizons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47802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/ Inference Time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92040" y="2898648"/>
            <a:ext cx="320040" cy="0"/>
          </a:xfrm>
          <a:prstGeom prst="line">
            <a:avLst/>
          </a:prstGeom>
          <a:noFill/>
          <a:ln w="12700">
            <a:solidFill>
              <a:srgbClr val="C7D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478024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generating forecasts at scale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31927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/ Tuning Effort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892040" y="3739896"/>
            <a:ext cx="320040" cy="0"/>
          </a:xfrm>
          <a:prstGeom prst="line">
            <a:avLst/>
          </a:prstGeom>
          <a:noFill/>
          <a:ln w="12700">
            <a:solidFill>
              <a:srgbClr val="C7D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319272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and process effort to get a model production-ready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160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 / Resource Cost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892040" y="4581144"/>
            <a:ext cx="320040" cy="0"/>
          </a:xfrm>
          <a:prstGeom prst="line">
            <a:avLst/>
          </a:prstGeom>
          <a:noFill/>
          <a:ln w="12700">
            <a:solidFill>
              <a:srgbClr val="C7D3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4160520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infrastructure demands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500176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of Use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892040" y="5422392"/>
            <a:ext cx="320040" cy="0"/>
          </a:xfrm>
          <a:prstGeom prst="line">
            <a:avLst/>
          </a:prstGeom>
          <a:noFill/>
          <a:ln w="12700">
            <a:solidFill>
              <a:srgbClr val="C7D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5001768"/>
            <a:ext cx="6309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and maintenance overhead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Assumptions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the benchmarking results will confirm, refine, or challenge.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332720" cy="896112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8191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9281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models offer higher value on smaller datasets thanks to pretraining, but that edge tapers off as traditional models catch up with more data.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0332720" cy="896112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6090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371600" y="2770632"/>
            <a:ext cx="9281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Fringe or highly domain-specific datasets get much less value from pretrained foundational models than general datasets 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0332720" cy="896112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3989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9624"/>
            <a:ext cx="9281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accuracy is not the primary determinant of feasibility — cost, effort, and ease of use matter too.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0332720" cy="896112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1888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371600" y="4928616"/>
            <a:ext cx="92811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is a key factor in deciding which model family is the right fit.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86CA0-AD0A-5F4D-81B0-47C7DF118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02393D-75AF-F8E6-8BB7-8AE0CE553473}"/>
              </a:ext>
            </a:extLst>
          </p:cNvPr>
          <p:cNvSpPr/>
          <p:nvPr/>
        </p:nvSpPr>
        <p:spPr>
          <a:xfrm>
            <a:off x="548640" y="680968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A2233"/>
                </a:solidFill>
                <a:latin typeface="Cambria"/>
                <a:ea typeface="Cambria"/>
              </a:rPr>
              <a:t>Data pipeline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7299A1-AE3F-FD8E-AF52-590B026901E8}"/>
              </a:ext>
            </a:extLst>
          </p:cNvPr>
          <p:cNvSpPr/>
          <p:nvPr/>
        </p:nvSpPr>
        <p:spPr>
          <a:xfrm>
            <a:off x="715908" y="2009078"/>
            <a:ext cx="2945409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86DEAC-0297-FCA3-6CBB-6DDBBA454EF1}"/>
              </a:ext>
            </a:extLst>
          </p:cNvPr>
          <p:cNvSpPr/>
          <p:nvPr/>
        </p:nvSpPr>
        <p:spPr>
          <a:xfrm>
            <a:off x="1035948" y="228339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40D940-0B71-0C47-FD39-639A42C417D2}"/>
              </a:ext>
            </a:extLst>
          </p:cNvPr>
          <p:cNvSpPr/>
          <p:nvPr/>
        </p:nvSpPr>
        <p:spPr>
          <a:xfrm>
            <a:off x="1035948" y="228339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AB17BE4-E82C-A24F-45B0-00D4E8348C81}"/>
              </a:ext>
            </a:extLst>
          </p:cNvPr>
          <p:cNvSpPr/>
          <p:nvPr/>
        </p:nvSpPr>
        <p:spPr>
          <a:xfrm>
            <a:off x="1721748" y="2283398"/>
            <a:ext cx="1637371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Raw dataset</a:t>
            </a:r>
            <a:endParaRPr lang="en-U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0100D581-10B1-B108-D17F-1C3AEC255710}"/>
              </a:ext>
            </a:extLst>
          </p:cNvPr>
          <p:cNvSpPr/>
          <p:nvPr/>
        </p:nvSpPr>
        <p:spPr>
          <a:xfrm>
            <a:off x="4423688" y="2009078"/>
            <a:ext cx="3140555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990D6956-2CBC-9F90-6927-C6D59F4ED75A}"/>
              </a:ext>
            </a:extLst>
          </p:cNvPr>
          <p:cNvSpPr/>
          <p:nvPr/>
        </p:nvSpPr>
        <p:spPr>
          <a:xfrm>
            <a:off x="4743728" y="229269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DAF9E75C-61AE-6E40-20E3-2C38C080A7DE}"/>
              </a:ext>
            </a:extLst>
          </p:cNvPr>
          <p:cNvSpPr/>
          <p:nvPr/>
        </p:nvSpPr>
        <p:spPr>
          <a:xfrm>
            <a:off x="4743728" y="2292690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04E44F81-54F6-09DF-8E05-14B425145BC4}"/>
              </a:ext>
            </a:extLst>
          </p:cNvPr>
          <p:cNvSpPr/>
          <p:nvPr/>
        </p:nvSpPr>
        <p:spPr>
          <a:xfrm>
            <a:off x="5429528" y="2292690"/>
            <a:ext cx="20555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Standardization</a:t>
            </a:r>
            <a:endParaRPr lang="en-US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9DC494B5-22CC-E934-EFD7-4DEA3C87AAD0}"/>
              </a:ext>
            </a:extLst>
          </p:cNvPr>
          <p:cNvSpPr/>
          <p:nvPr/>
        </p:nvSpPr>
        <p:spPr>
          <a:xfrm>
            <a:off x="8521761" y="2009078"/>
            <a:ext cx="2982579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E8EB37A7-BC01-E14C-760B-8010D0CC37EA}"/>
              </a:ext>
            </a:extLst>
          </p:cNvPr>
          <p:cNvSpPr/>
          <p:nvPr/>
        </p:nvSpPr>
        <p:spPr>
          <a:xfrm>
            <a:off x="8841801" y="229269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3E66DBDC-7861-9122-CA62-ADCB4DE36441}"/>
              </a:ext>
            </a:extLst>
          </p:cNvPr>
          <p:cNvSpPr/>
          <p:nvPr/>
        </p:nvSpPr>
        <p:spPr>
          <a:xfrm>
            <a:off x="8841801" y="2292690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F6D3F918-EBDD-7E3C-C1CF-A30C9BAB8541}"/>
              </a:ext>
            </a:extLst>
          </p:cNvPr>
          <p:cNvSpPr/>
          <p:nvPr/>
        </p:nvSpPr>
        <p:spPr>
          <a:xfrm>
            <a:off x="9527601" y="2292690"/>
            <a:ext cx="20555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Data cleaning</a:t>
            </a:r>
            <a:endParaRPr lang="en-US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99EF4DB7-8EF3-7C87-2793-33DC51A0DC21}"/>
              </a:ext>
            </a:extLst>
          </p:cNvPr>
          <p:cNvSpPr/>
          <p:nvPr/>
        </p:nvSpPr>
        <p:spPr>
          <a:xfrm>
            <a:off x="706615" y="4434468"/>
            <a:ext cx="2945409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581FCEDE-59C3-EB12-9BD0-083AE4CD2533}"/>
              </a:ext>
            </a:extLst>
          </p:cNvPr>
          <p:cNvSpPr/>
          <p:nvPr/>
        </p:nvSpPr>
        <p:spPr>
          <a:xfrm>
            <a:off x="1026655" y="47087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C3FA7E6-A20C-B5C4-10E8-3C027C00A693}"/>
              </a:ext>
            </a:extLst>
          </p:cNvPr>
          <p:cNvSpPr/>
          <p:nvPr/>
        </p:nvSpPr>
        <p:spPr>
          <a:xfrm>
            <a:off x="1026655" y="4708788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438DFC4B-96FC-65F9-0603-DCA7B5D5E8BE}"/>
              </a:ext>
            </a:extLst>
          </p:cNvPr>
          <p:cNvSpPr/>
          <p:nvPr/>
        </p:nvSpPr>
        <p:spPr>
          <a:xfrm>
            <a:off x="1712455" y="4708788"/>
            <a:ext cx="1637371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Evaluation</a:t>
            </a: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5B9DFFF7-8A13-39AD-AFE6-A752AB16E092}"/>
              </a:ext>
            </a:extLst>
          </p:cNvPr>
          <p:cNvSpPr/>
          <p:nvPr/>
        </p:nvSpPr>
        <p:spPr>
          <a:xfrm>
            <a:off x="4414395" y="4434468"/>
            <a:ext cx="3140555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79AD7B8F-9595-08CB-621B-E205B420CEAE}"/>
              </a:ext>
            </a:extLst>
          </p:cNvPr>
          <p:cNvSpPr/>
          <p:nvPr/>
        </p:nvSpPr>
        <p:spPr>
          <a:xfrm>
            <a:off x="4734435" y="4718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6367471A-9EE6-A97D-1EB4-DC1E197AE1BA}"/>
              </a:ext>
            </a:extLst>
          </p:cNvPr>
          <p:cNvSpPr/>
          <p:nvPr/>
        </p:nvSpPr>
        <p:spPr>
          <a:xfrm>
            <a:off x="4734435" y="4718080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5</a:t>
            </a: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16592C1C-6169-EE4A-89D4-3D3FB216A05C}"/>
              </a:ext>
            </a:extLst>
          </p:cNvPr>
          <p:cNvSpPr/>
          <p:nvPr/>
        </p:nvSpPr>
        <p:spPr>
          <a:xfrm>
            <a:off x="5420235" y="4718080"/>
            <a:ext cx="20555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Forecasting</a:t>
            </a:r>
            <a:endParaRPr lang="en-US"/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76E8BA46-2AF3-8513-CA5D-B555A0128371}"/>
              </a:ext>
            </a:extLst>
          </p:cNvPr>
          <p:cNvSpPr/>
          <p:nvPr/>
        </p:nvSpPr>
        <p:spPr>
          <a:xfrm>
            <a:off x="8512468" y="4434468"/>
            <a:ext cx="2982579" cy="1111033"/>
          </a:xfrm>
          <a:prstGeom prst="rect">
            <a:avLst/>
          </a:prstGeom>
          <a:solidFill>
            <a:srgbClr val="E4EEF3"/>
          </a:solidFill>
          <a:ln/>
        </p:spPr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615B5457-DACF-AE8D-404C-B212109AF21A}"/>
              </a:ext>
            </a:extLst>
          </p:cNvPr>
          <p:cNvSpPr/>
          <p:nvPr/>
        </p:nvSpPr>
        <p:spPr>
          <a:xfrm>
            <a:off x="8832508" y="4718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6B6ECDFC-01AA-C05F-009A-46E3E51EB3E4}"/>
              </a:ext>
            </a:extLst>
          </p:cNvPr>
          <p:cNvSpPr/>
          <p:nvPr/>
        </p:nvSpPr>
        <p:spPr>
          <a:xfrm>
            <a:off x="8832508" y="4718080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6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B274696E-EF20-7177-F414-7B0A1D896F70}"/>
              </a:ext>
            </a:extLst>
          </p:cNvPr>
          <p:cNvSpPr/>
          <p:nvPr/>
        </p:nvSpPr>
        <p:spPr>
          <a:xfrm>
            <a:off x="9518308" y="4718080"/>
            <a:ext cx="20555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>
                <a:solidFill>
                  <a:srgbClr val="21295C"/>
                </a:solidFill>
                <a:latin typeface="Cambria"/>
                <a:ea typeface="Cambria"/>
              </a:rPr>
              <a:t>Train/test split</a:t>
            </a:r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761F481-E557-A905-6E8F-F012F846A777}"/>
              </a:ext>
            </a:extLst>
          </p:cNvPr>
          <p:cNvSpPr/>
          <p:nvPr/>
        </p:nvSpPr>
        <p:spPr>
          <a:xfrm>
            <a:off x="3786582" y="2339278"/>
            <a:ext cx="65024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23CAD97-F3C8-E660-D537-93D679498750}"/>
              </a:ext>
            </a:extLst>
          </p:cNvPr>
          <p:cNvSpPr/>
          <p:nvPr/>
        </p:nvSpPr>
        <p:spPr>
          <a:xfrm>
            <a:off x="7875362" y="2339278"/>
            <a:ext cx="65024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61FE1D9D-9278-43C2-9FC1-FA5750BAE89B}"/>
              </a:ext>
            </a:extLst>
          </p:cNvPr>
          <p:cNvSpPr/>
          <p:nvPr/>
        </p:nvSpPr>
        <p:spPr>
          <a:xfrm rot="10800000">
            <a:off x="7633753" y="4764668"/>
            <a:ext cx="65024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627984A2-D0CE-D947-D62B-C371138779ED}"/>
              </a:ext>
            </a:extLst>
          </p:cNvPr>
          <p:cNvSpPr/>
          <p:nvPr/>
        </p:nvSpPr>
        <p:spPr>
          <a:xfrm rot="10800000">
            <a:off x="3656484" y="4764667"/>
            <a:ext cx="65024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29B8E623-A15C-5B0B-621A-E4A24979537A}"/>
              </a:ext>
            </a:extLst>
          </p:cNvPr>
          <p:cNvSpPr/>
          <p:nvPr/>
        </p:nvSpPr>
        <p:spPr>
          <a:xfrm rot="5400000">
            <a:off x="9599156" y="3579850"/>
            <a:ext cx="1012653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9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Data Preparation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77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77640" y="12664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96012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research scope and hypotheses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77640" y="1755648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17170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865376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validate all datasets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2660904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3076956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770632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on each dataset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77640" y="3566160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3982212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3675888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small, medium, and large dataset variants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977640" y="4471416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488746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4581144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common benchmarking pipeline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77640" y="5376672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57927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548640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forecast horizons and evaluation metrics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Benchmarking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77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77640" y="126644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960120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Run classical models (ARIMA, SARIMA, Naive, </a:t>
            </a:r>
            <a:r>
              <a:rPr lang="en-US" sz="1400" dirty="0" err="1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SNaive</a:t>
            </a: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77640" y="1755648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2171700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865376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Run ML models (</a:t>
            </a:r>
            <a:r>
              <a:rPr lang="en-US" sz="1400" dirty="0" err="1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US" sz="1400" dirty="0" err="1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LightGBM</a:t>
            </a: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77640" y="2660904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3076956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770632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Run deep learning models (LSTM, N-HITS</a:t>
            </a: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77640" y="3566160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398221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3675888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Run foundational models (Chronos, TTM)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77640" y="4471416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7640" y="4887468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4581144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accuracy, runtime, and resource metrics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977640" y="5376672"/>
            <a:ext cx="768096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579272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5486400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Consolidate results into a master benchmark notebook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BE6C1-475D-9F91-EDD3-B64F5E2A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B02B61-6585-55F9-4ED0-C1705EB26C26}"/>
              </a:ext>
            </a:extLst>
          </p:cNvPr>
          <p:cNvSpPr/>
          <p:nvPr/>
        </p:nvSpPr>
        <p:spPr>
          <a:xfrm>
            <a:off x="0" y="-1"/>
            <a:ext cx="12189769" cy="159834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4E312A-8BB1-BD77-DBE9-CDDAD2933467}"/>
              </a:ext>
            </a:extLst>
          </p:cNvPr>
          <p:cNvSpPr/>
          <p:nvPr/>
        </p:nvSpPr>
        <p:spPr>
          <a:xfrm>
            <a:off x="206297" y="205925"/>
            <a:ext cx="7546029" cy="138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Problems</a:t>
            </a:r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7EB568F-C64E-0D03-C3B3-1F71FCD300F6}"/>
              </a:ext>
            </a:extLst>
          </p:cNvPr>
          <p:cNvSpPr/>
          <p:nvPr/>
        </p:nvSpPr>
        <p:spPr>
          <a:xfrm>
            <a:off x="1301347" y="2093493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AE5F3E5-3FAF-3183-4DDB-3E44383773EA}"/>
              </a:ext>
            </a:extLst>
          </p:cNvPr>
          <p:cNvSpPr/>
          <p:nvPr/>
        </p:nvSpPr>
        <p:spPr>
          <a:xfrm>
            <a:off x="1667107" y="1787169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4999"/>
              </a:lnSpc>
            </a:pPr>
            <a:r>
              <a:rPr lang="en-US" sz="1400">
                <a:solidFill>
                  <a:srgbClr val="1A2233"/>
                </a:solidFill>
                <a:ea typeface="Calibri"/>
                <a:cs typeface="Calibri"/>
              </a:rPr>
              <a:t>Limited</a:t>
            </a:r>
            <a:r>
              <a:rPr lang="en-US" sz="1400" dirty="0">
                <a:solidFill>
                  <a:srgbClr val="1A2233"/>
                </a:solidFill>
                <a:ea typeface="Calibri"/>
                <a:cs typeface="Calibri"/>
              </a:rPr>
              <a:t> computing power</a:t>
            </a:r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1043B389-0260-C728-3E86-02B2D8D5D165}"/>
              </a:ext>
            </a:extLst>
          </p:cNvPr>
          <p:cNvSpPr/>
          <p:nvPr/>
        </p:nvSpPr>
        <p:spPr>
          <a:xfrm>
            <a:off x="1301347" y="2827614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C21BC6F-E584-109A-4AD8-BB80DC37053F}"/>
              </a:ext>
            </a:extLst>
          </p:cNvPr>
          <p:cNvSpPr/>
          <p:nvPr/>
        </p:nvSpPr>
        <p:spPr>
          <a:xfrm>
            <a:off x="1667107" y="2521290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4999"/>
              </a:lnSpc>
            </a:pP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Limited practical covariate data</a:t>
            </a:r>
            <a:endParaRPr 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76CD52CF-9206-A6EB-22D5-BC1743547737}"/>
              </a:ext>
            </a:extLst>
          </p:cNvPr>
          <p:cNvSpPr/>
          <p:nvPr/>
        </p:nvSpPr>
        <p:spPr>
          <a:xfrm>
            <a:off x="1301347" y="3543151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D2495477-FF03-9842-8918-A52CC0004EBC}"/>
              </a:ext>
            </a:extLst>
          </p:cNvPr>
          <p:cNvSpPr/>
          <p:nvPr/>
        </p:nvSpPr>
        <p:spPr>
          <a:xfrm>
            <a:off x="1667107" y="3236827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4999"/>
              </a:lnSpc>
            </a:pP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Conflicting library support systems</a:t>
            </a:r>
            <a:endParaRPr lang="en-US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C520BF3-93F2-EC16-D098-954C97C9D7E4}"/>
              </a:ext>
            </a:extLst>
          </p:cNvPr>
          <p:cNvSpPr/>
          <p:nvPr/>
        </p:nvSpPr>
        <p:spPr>
          <a:xfrm>
            <a:off x="1301347" y="4277272"/>
            <a:ext cx="164592" cy="16459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F39307A2-23FA-7F01-1C6E-0412164F130F}"/>
              </a:ext>
            </a:extLst>
          </p:cNvPr>
          <p:cNvSpPr/>
          <p:nvPr/>
        </p:nvSpPr>
        <p:spPr>
          <a:xfrm>
            <a:off x="1667107" y="3970948"/>
            <a:ext cx="740664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Standardization for </a:t>
            </a:r>
            <a:r>
              <a:rPr lang="en-US" sz="1400">
                <a:solidFill>
                  <a:srgbClr val="1A2233"/>
                </a:solidFill>
                <a:latin typeface="Calibri"/>
                <a:ea typeface="Calibri"/>
                <a:cs typeface="Calibri"/>
              </a:rPr>
              <a:t>comparison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6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97217-2734-25B2-786C-080C5CDB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504FE4-BE24-1A37-0180-4AAE88D89316}"/>
              </a:ext>
            </a:extLst>
          </p:cNvPr>
          <p:cNvSpPr/>
          <p:nvPr/>
        </p:nvSpPr>
        <p:spPr>
          <a:xfrm>
            <a:off x="0" y="-1"/>
            <a:ext cx="12189769" cy="159834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AC90ED-5F6A-12FE-17D5-097D011B2230}"/>
              </a:ext>
            </a:extLst>
          </p:cNvPr>
          <p:cNvSpPr/>
          <p:nvPr/>
        </p:nvSpPr>
        <p:spPr>
          <a:xfrm>
            <a:off x="122663" y="410364"/>
            <a:ext cx="4906908" cy="14537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Model rankings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1C5B9-F900-343D-B004-4CB17D7A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104" y="1594276"/>
            <a:ext cx="6931645" cy="526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587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6D017-8292-70FA-548E-8F8469E9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A8DF4-0564-AE41-6323-86693003CD23}"/>
              </a:ext>
            </a:extLst>
          </p:cNvPr>
          <p:cNvSpPr/>
          <p:nvPr/>
        </p:nvSpPr>
        <p:spPr>
          <a:xfrm>
            <a:off x="0" y="-1"/>
            <a:ext cx="12189769" cy="159834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5639F1-BD7E-6B74-1856-7A7D0488BAD7}"/>
              </a:ext>
            </a:extLst>
          </p:cNvPr>
          <p:cNvSpPr/>
          <p:nvPr/>
        </p:nvSpPr>
        <p:spPr>
          <a:xfrm>
            <a:off x="122663" y="410364"/>
            <a:ext cx="4906908" cy="14537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Baseline comparison</a:t>
            </a:r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15774E6-DC02-04BE-3E40-E446AF79EEA2}"/>
              </a:ext>
            </a:extLst>
          </p:cNvPr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04CB1-D579-F0DA-032F-7FA6E4B2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414" y="3419707"/>
            <a:ext cx="6089173" cy="339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64FF0-5D5D-193C-0354-EEA63E024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717" y="1599735"/>
            <a:ext cx="6103435" cy="3389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F54DA7-E077-FF66-6236-85A2F52E4786}"/>
              </a:ext>
            </a:extLst>
          </p:cNvPr>
          <p:cNvSpPr txBox="1"/>
          <p:nvPr/>
        </p:nvSpPr>
        <p:spPr>
          <a:xfrm>
            <a:off x="6248399" y="2238374"/>
            <a:ext cx="475041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1A2233"/>
                </a:solidFill>
                <a:latin typeface="Times New Roman"/>
                <a:cs typeface="Times New Roman"/>
              </a:rPr>
              <a:t>Δ</a:t>
            </a:r>
            <a:r>
              <a:rPr lang="en-US" sz="1400" baseline="-25000" dirty="0">
                <a:solidFill>
                  <a:srgbClr val="1A2233"/>
                </a:solidFill>
                <a:latin typeface="Times New Roman"/>
                <a:cs typeface="Times New Roman"/>
              </a:rPr>
              <a:t>F,C</a:t>
            </a:r>
            <a:r>
              <a:rPr lang="en-US" sz="2000" dirty="0">
                <a:solidFill>
                  <a:srgbClr val="1A2233"/>
                </a:solidFill>
                <a:latin typeface="Times New Roman"/>
                <a:cs typeface="Times New Roman"/>
              </a:rPr>
              <a:t> = </a:t>
            </a:r>
            <a:r>
              <a:rPr lang="en-US" sz="2000" dirty="0" err="1">
                <a:solidFill>
                  <a:srgbClr val="1A2233"/>
                </a:solidFill>
                <a:latin typeface="Times New Roman"/>
                <a:cs typeface="Times New Roman"/>
              </a:rPr>
              <a:t>SMAPE</a:t>
            </a:r>
            <a:r>
              <a:rPr lang="en-US" sz="1400" baseline="-25000" dirty="0" err="1">
                <a:solidFill>
                  <a:srgbClr val="1A2233"/>
                </a:solidFill>
                <a:latin typeface="Times New Roman"/>
                <a:cs typeface="Times New Roman"/>
              </a:rPr>
              <a:t>Classical</a:t>
            </a:r>
            <a:r>
              <a:rPr lang="en-US" sz="2000" dirty="0">
                <a:solidFill>
                  <a:srgbClr val="1A2233"/>
                </a:solidFill>
                <a:latin typeface="Times New Roman"/>
                <a:cs typeface="Times New Roman"/>
              </a:rPr>
              <a:t> − </a:t>
            </a:r>
            <a:r>
              <a:rPr lang="en-US" sz="2000" dirty="0" err="1">
                <a:solidFill>
                  <a:srgbClr val="1A2233"/>
                </a:solidFill>
                <a:latin typeface="Times New Roman"/>
                <a:cs typeface="Times New Roman"/>
              </a:rPr>
              <a:t>SMAPE</a:t>
            </a:r>
            <a:r>
              <a:rPr lang="en-US" sz="1400" baseline="-25000" dirty="0" err="1">
                <a:solidFill>
                  <a:srgbClr val="1A2233"/>
                </a:solidFill>
                <a:latin typeface="Times New Roman"/>
                <a:cs typeface="Times New Roman"/>
              </a:rPr>
              <a:t>Foundation</a:t>
            </a:r>
            <a:endParaRPr lang="en-US" sz="1400">
              <a:latin typeface="Times New Roman"/>
              <a:cs typeface="Times New Roman"/>
            </a:endParaRPr>
          </a:p>
          <a:p>
            <a:pPr algn="l"/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997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B8F49-F0CB-90E8-6769-06B4C90A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2321B7-BD03-035E-26F5-4F7DF3995F1F}"/>
              </a:ext>
            </a:extLst>
          </p:cNvPr>
          <p:cNvSpPr/>
          <p:nvPr/>
        </p:nvSpPr>
        <p:spPr>
          <a:xfrm>
            <a:off x="0" y="-1"/>
            <a:ext cx="12189769" cy="159834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822F25-A127-03C5-6AE2-2023CF59BA8C}"/>
              </a:ext>
            </a:extLst>
          </p:cNvPr>
          <p:cNvSpPr/>
          <p:nvPr/>
        </p:nvSpPr>
        <p:spPr>
          <a:xfrm>
            <a:off x="122663" y="410364"/>
            <a:ext cx="4906908" cy="14537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</a:rPr>
              <a:t>Comparison heatmap</a:t>
            </a:r>
            <a:endParaRPr lang="en-US" sz="26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C0DF1-52CA-9455-0705-82A8A09A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89" y="1595438"/>
            <a:ext cx="8033061" cy="521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99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3150C-B0FA-8F07-FCE0-222F0836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21F9E4-3189-DB9F-B8AB-B6C71E2C8EBC}"/>
              </a:ext>
            </a:extLst>
          </p:cNvPr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1A2233"/>
                </a:solidFill>
                <a:latin typeface="Cambria"/>
                <a:ea typeface="Cambria"/>
              </a:rPr>
              <a:t>Benchmark</a:t>
            </a:r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60D452D-F1D0-48B7-0B9E-6A2AE9424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661899"/>
              </p:ext>
            </p:extLst>
          </p:nvPr>
        </p:nvGraphicFramePr>
        <p:xfrm>
          <a:off x="636363" y="1307815"/>
          <a:ext cx="10673890" cy="471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778">
                  <a:extLst>
                    <a:ext uri="{9D8B030D-6E8A-4147-A177-3AD203B41FA5}">
                      <a16:colId xmlns:a16="http://schemas.microsoft.com/office/drawing/2014/main" val="3568299627"/>
                    </a:ext>
                  </a:extLst>
                </a:gridCol>
                <a:gridCol w="2134778">
                  <a:extLst>
                    <a:ext uri="{9D8B030D-6E8A-4147-A177-3AD203B41FA5}">
                      <a16:colId xmlns:a16="http://schemas.microsoft.com/office/drawing/2014/main" val="2386600628"/>
                    </a:ext>
                  </a:extLst>
                </a:gridCol>
                <a:gridCol w="2134778">
                  <a:extLst>
                    <a:ext uri="{9D8B030D-6E8A-4147-A177-3AD203B41FA5}">
                      <a16:colId xmlns:a16="http://schemas.microsoft.com/office/drawing/2014/main" val="3564489"/>
                    </a:ext>
                  </a:extLst>
                </a:gridCol>
                <a:gridCol w="2134778">
                  <a:extLst>
                    <a:ext uri="{9D8B030D-6E8A-4147-A177-3AD203B41FA5}">
                      <a16:colId xmlns:a16="http://schemas.microsoft.com/office/drawing/2014/main" val="2564423463"/>
                    </a:ext>
                  </a:extLst>
                </a:gridCol>
                <a:gridCol w="2134778">
                  <a:extLst>
                    <a:ext uri="{9D8B030D-6E8A-4147-A177-3AD203B41FA5}">
                      <a16:colId xmlns:a16="http://schemas.microsoft.com/office/drawing/2014/main" val="619185691"/>
                    </a:ext>
                  </a:extLst>
                </a:gridCol>
              </a:tblGrid>
              <a:tr h="9430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Number of </a:t>
                      </a:r>
                      <a:r>
                        <a:rPr lang="en-US"/>
                        <a:t>observations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 50,000 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50,000 – 250,000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250,000 – 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1,000,000 – 5,000,000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378338"/>
                  </a:ext>
                </a:extLst>
              </a:tr>
              <a:tr h="943080">
                <a:tc>
                  <a:txBody>
                    <a:bodyPr/>
                    <a:lstStyle/>
                    <a:p>
                      <a:r>
                        <a:rPr lang="en-US"/>
                        <a:t>&lt;500 series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Traditional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Traditional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viable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Preferred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339242"/>
                  </a:ext>
                </a:extLst>
              </a:tr>
              <a:tr h="943080">
                <a:tc>
                  <a:txBody>
                    <a:bodyPr/>
                    <a:lstStyle/>
                    <a:p>
                      <a:r>
                        <a:rPr lang="en-US"/>
                        <a:t>500 – 2000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Traditional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Both viable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911828"/>
                  </a:ext>
                </a:extLst>
              </a:tr>
              <a:tr h="943080">
                <a:tc>
                  <a:txBody>
                    <a:bodyPr/>
                    <a:lstStyle/>
                    <a:p>
                      <a:r>
                        <a:rPr lang="en-US"/>
                        <a:t>2000 – 5000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Both viable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710778"/>
                  </a:ext>
                </a:extLst>
              </a:tr>
              <a:tr h="943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/>
                        <a:t>&gt; 5000 series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viable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Foundational Strongly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Preferred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85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612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342</cp:revision>
  <dcterms:created xsi:type="dcterms:W3CDTF">2026-08-11T06:06:05Z</dcterms:created>
  <dcterms:modified xsi:type="dcterms:W3CDTF">2026-08-12T10:47:24Z</dcterms:modified>
</cp:coreProperties>
</file>